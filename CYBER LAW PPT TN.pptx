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2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5068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B1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2C0A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840480" y="0"/>
            <a:ext cx="54864" cy="5143500"/>
          </a:xfrm>
          <a:prstGeom prst="rect">
            <a:avLst/>
          </a:prstGeom>
          <a:solidFill>
            <a:srgbClr val="C492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325880" y="457200"/>
            <a:ext cx="731520" cy="731520"/>
          </a:xfrm>
          <a:prstGeom prst="ellipse">
            <a:avLst/>
          </a:prstGeom>
          <a:solidFill>
            <a:srgbClr val="C492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566928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25880" y="1371600"/>
            <a:ext cx="731520" cy="731520"/>
          </a:xfrm>
          <a:prstGeom prst="ellipse">
            <a:avLst/>
          </a:prstGeom>
          <a:solidFill>
            <a:srgbClr val="C492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1481328"/>
            <a:ext cx="457200" cy="4572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325880" y="2286000"/>
            <a:ext cx="731520" cy="731520"/>
          </a:xfrm>
          <a:prstGeom prst="ellipse">
            <a:avLst/>
          </a:prstGeom>
          <a:solidFill>
            <a:srgbClr val="C492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0" y="2395728"/>
            <a:ext cx="457200" cy="4572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325880" y="3200400"/>
            <a:ext cx="731520" cy="731520"/>
          </a:xfrm>
          <a:prstGeom prst="ellipse">
            <a:avLst/>
          </a:prstGeom>
          <a:solidFill>
            <a:srgbClr val="C492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3040" y="3310128"/>
            <a:ext cx="457200" cy="45720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1325880" y="4114800"/>
            <a:ext cx="731520" cy="731520"/>
          </a:xfrm>
          <a:prstGeom prst="ellipse">
            <a:avLst/>
          </a:prstGeom>
          <a:solidFill>
            <a:srgbClr val="C492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3040" y="4224528"/>
            <a:ext cx="457200" cy="4572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114800" y="502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spc="800" dirty="0">
                <a:solidFill>
                  <a:srgbClr val="C4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RISTORANTE</a:t>
            </a:r>
            <a:endParaRPr lang="en-US" sz="1400" dirty="0"/>
          </a:p>
        </p:txBody>
      </p:sp>
      <p:sp>
        <p:nvSpPr>
          <p:cNvPr id="15" name="Text 8"/>
          <p:cNvSpPr/>
          <p:nvPr/>
        </p:nvSpPr>
        <p:spPr>
          <a:xfrm>
            <a:off x="4114800" y="10058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BELLA VITA</a:t>
            </a:r>
            <a:endParaRPr lang="en-US" sz="5200" dirty="0"/>
          </a:p>
        </p:txBody>
      </p:sp>
      <p:sp>
        <p:nvSpPr>
          <p:cNvPr id="16" name="Text 9"/>
          <p:cNvSpPr/>
          <p:nvPr/>
        </p:nvSpPr>
        <p:spPr>
          <a:xfrm>
            <a:off x="4114800" y="19202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C4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BREWERY</a:t>
            </a:r>
            <a:endParaRPr lang="en-US" sz="3600" dirty="0"/>
          </a:p>
        </p:txBody>
      </p:sp>
      <p:sp>
        <p:nvSpPr>
          <p:cNvPr id="17" name="Shape 10"/>
          <p:cNvSpPr/>
          <p:nvPr/>
        </p:nvSpPr>
        <p:spPr>
          <a:xfrm>
            <a:off x="4114800" y="2697480"/>
            <a:ext cx="4114800" cy="36576"/>
          </a:xfrm>
          <a:prstGeom prst="rect">
            <a:avLst/>
          </a:prstGeom>
          <a:solidFill>
            <a:srgbClr val="C492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1"/>
          <p:cNvSpPr/>
          <p:nvPr/>
        </p:nvSpPr>
        <p:spPr>
          <a:xfrm>
            <a:off x="4114800" y="2834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DD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 Luxury Dining  ·  In-House Brewery  ·  Eco-Smart  ·  Live Entertainment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4114800" y="3429000"/>
            <a:ext cx="48463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2E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Premium Experience-Based Restaurant Model</a:t>
            </a:r>
            <a:br>
              <a:rPr lang="en-US" sz="1200" dirty="0">
                <a:solidFill>
                  <a:srgbClr val="F2E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1200" dirty="0">
                <a:solidFill>
                  <a:srgbClr val="F2E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1200" dirty="0">
                <a:solidFill>
                  <a:srgbClr val="F2E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1200" dirty="0">
                <a:solidFill>
                  <a:srgbClr val="F2E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>
                <a:solidFill>
                  <a:srgbClr val="F2E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 THAPO NANDAN</a:t>
            </a:r>
          </a:p>
          <a:p>
            <a:pPr marL="0" indent="0" algn="l">
              <a:buNone/>
            </a:pPr>
            <a:r>
              <a:rPr lang="en-US" sz="1200">
                <a:solidFill>
                  <a:srgbClr val="F2E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USN 23BTRCC030</a:t>
            </a:r>
          </a:p>
          <a:p>
            <a:pPr marL="0" indent="0" algn="l">
              <a:buNone/>
            </a:pPr>
            <a:br>
              <a:rPr lang="en-US" sz="1200" dirty="0">
                <a:solidFill>
                  <a:srgbClr val="F2E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4"/>
          <p:cNvSpPr/>
          <p:nvPr/>
        </p:nvSpPr>
        <p:spPr>
          <a:xfrm>
            <a:off x="4114800" y="478231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 |  Hospitality Management  | 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B1C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Four-Pillar Model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6B1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"Italian Luxury Brewery + Entertainment + Eco Smart Dining"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192024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1920240" cy="822960"/>
          </a:xfrm>
          <a:prstGeom prst="rect">
            <a:avLst/>
          </a:prstGeom>
          <a:solidFill>
            <a:srgbClr val="6B1C2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719072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39572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1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6B1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Italian Cuisine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75488" y="3108960"/>
            <a:ext cx="1700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 artisanal dishes across all courses — starters, pasta, pizza, mains &amp; desserts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68880" y="1554480"/>
            <a:ext cx="192024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2468880" y="1554480"/>
            <a:ext cx="1920240" cy="822960"/>
          </a:xfrm>
          <a:prstGeom prst="rect">
            <a:avLst/>
          </a:prstGeom>
          <a:solidFill>
            <a:srgbClr val="8B263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719072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468880" y="239572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26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In-House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8B26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Brewery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578608" y="3108960"/>
            <a:ext cx="1700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lager, wheat beer, stout &amp; fruit ale brewed on-site plus Italian &amp; Mexican imports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0" y="1554480"/>
            <a:ext cx="192024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4572000" y="1554480"/>
            <a:ext cx="1920240" cy="822960"/>
          </a:xfrm>
          <a:prstGeom prst="rect">
            <a:avLst/>
          </a:prstGeom>
          <a:solidFill>
            <a:srgbClr val="3A7D4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1719072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572000" y="239572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7D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Eco-Friendly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A7D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Charging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681728" y="3108960"/>
            <a:ext cx="1700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Solar-powered wireless charging at every table — convenience meets sustainability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675120" y="1554480"/>
            <a:ext cx="192024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6675120" y="1554480"/>
            <a:ext cx="1920240" cy="822960"/>
          </a:xfrm>
          <a:prstGeom prst="rect">
            <a:avLst/>
          </a:prstGeom>
          <a:solidFill>
            <a:srgbClr val="C4922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0" y="1719072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675120" y="239572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4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C4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Entertainment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784848" y="3108960"/>
            <a:ext cx="1700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live band, weekly stand-up comedy &amp; open mic — multiple reasons to return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26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MENU &amp; BREWERY DESIGN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 Italian cuisine meets artisanal craft brewing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023360" cy="411480"/>
          </a:xfrm>
          <a:prstGeom prst="rect">
            <a:avLst/>
          </a:prstGeom>
          <a:solidFill>
            <a:srgbClr val="6B1C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🍽  FOOD MENU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1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63040" y="15087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Arancini · Burrata · Garlic Prawns · Bruschetta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1671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1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63040" y="216712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Truffle Alfredo · Aglio e Olio · Seafood Linguine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8254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1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Pizza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63040" y="282549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Wood-fired Margherita · Quattro Formaggi · Truffle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4838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1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63040" y="348386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Grilled Chicken · Lamb Chops · Mushroom Risotto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1422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1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Desserts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63040" y="41422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Tiramisu · Panna Cotta · Flaming Dessert Platter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00584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4023360" cy="411480"/>
          </a:xfrm>
          <a:prstGeom prst="rect">
            <a:avLst/>
          </a:prstGeom>
          <a:solidFill>
            <a:srgbClr val="C492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4632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🍺  BREWERY SECTION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1508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26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In-House Craft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1783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Vita Lager · Mediterranean Wheat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Rome Stout · Summer Fruit Ale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Reserve (Rotating)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26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Italian Imports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2606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Peroni Nastro Azzurro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Moretti L'Autentica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3154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26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Mexican Imports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34290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Corona Extra  ·  Modelo Especial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26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Experiences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42519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Beer Tasting Flights · Brewery Tours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Pairing Menus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A7D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Eco-friendly innovation meets world-class entertainment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023360" cy="548640"/>
          </a:xfrm>
          <a:prstGeom prst="rect">
            <a:avLst/>
          </a:prstGeom>
          <a:solidFill>
            <a:srgbClr val="3A7D4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6984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0789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ECO-FRIENDLY CHARGING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16642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7D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☀  Solar-Powered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1920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Rooftop solar panels supply all charging energy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" y="22860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7D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 Wireless Tables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25420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Qi-compatible pads + USB-A/C at every seat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02920" y="29077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7D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 Live Display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" y="31638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"Powered by 100% solar energy" shown per table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35295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7D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💰  Revenue Boost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2920" y="37856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stay = more orders, higher spend per cover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2920" y="41513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7D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🌱  Brand Edge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02920" y="44074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"Bangalore's eco-smart dining destination" positioning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54880" y="1005840"/>
            <a:ext cx="402336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4754880" y="1005840"/>
            <a:ext cx="4023360" cy="548640"/>
          </a:xfrm>
          <a:prstGeom prst="rect">
            <a:avLst/>
          </a:prstGeom>
          <a:solidFill>
            <a:srgbClr val="6B1C2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069848"/>
            <a:ext cx="384048" cy="38404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349240" y="10789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ENTERTAINMENT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892040" y="15727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1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 – Wed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09360" y="15727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/ Soft Background Music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892040" y="209397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1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Thursday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309360" y="209397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Jazz Band Evening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892040" y="26151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1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Friday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6309360" y="261518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Live Band Performance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4892040" y="31363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1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Saturday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09360" y="31363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Band + DJ Night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4892040" y="36576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1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Sunday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6309360" y="36576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 Comedy + Open Mic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4754880" y="4206240"/>
            <a:ext cx="4023360" cy="548640"/>
          </a:xfrm>
          <a:prstGeom prst="rect">
            <a:avLst/>
          </a:prstGeom>
          <a:solidFill>
            <a:srgbClr val="F2EA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0"/>
          <p:cNvSpPr/>
          <p:nvPr/>
        </p:nvSpPr>
        <p:spPr>
          <a:xfrm>
            <a:off x="4846320" y="42793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A6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from ticketing · Higher retention · Diverse audiences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E0A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COMPARISON WITH OIA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A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Bella Vita outperforms Bangalore's most hyped pub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3200400" cy="438912"/>
          </a:xfrm>
          <a:prstGeom prst="rect">
            <a:avLst/>
          </a:prstGeom>
          <a:solidFill>
            <a:srgbClr val="2E1A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1024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005840"/>
            <a:ext cx="2651760" cy="438912"/>
          </a:xfrm>
          <a:prstGeom prst="rect">
            <a:avLst/>
          </a:prstGeom>
          <a:solidFill>
            <a:srgbClr val="3A10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520440" y="10241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Oia (BLR)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0760" y="1005840"/>
            <a:ext cx="2743200" cy="438912"/>
          </a:xfrm>
          <a:prstGeom prst="rect">
            <a:avLst/>
          </a:prstGeom>
          <a:solidFill>
            <a:srgbClr val="1A2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172200" y="10241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Bella Vita Brewery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1444752"/>
            <a:ext cx="3200400" cy="402336"/>
          </a:xfrm>
          <a:prstGeom prst="rect">
            <a:avLst/>
          </a:prstGeom>
          <a:solidFill>
            <a:srgbClr val="2418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53619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Focus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29000" y="1444752"/>
            <a:ext cx="2651760" cy="402336"/>
          </a:xfrm>
          <a:prstGeom prst="rect">
            <a:avLst/>
          </a:prstGeom>
          <a:solidFill>
            <a:srgbClr val="2418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520440" y="15361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1444752"/>
            <a:ext cx="2743200" cy="402336"/>
          </a:xfrm>
          <a:prstGeom prst="rect">
            <a:avLst/>
          </a:prstGeom>
          <a:solidFill>
            <a:srgbClr val="2418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172200" y="153619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Experience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1865376"/>
            <a:ext cx="3200400" cy="402336"/>
          </a:xfrm>
          <a:prstGeom prst="rect">
            <a:avLst/>
          </a:prstGeom>
          <a:solidFill>
            <a:srgbClr val="1C12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20040" y="195681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Quality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29000" y="1865376"/>
            <a:ext cx="2651760" cy="402336"/>
          </a:xfrm>
          <a:prstGeom prst="rect">
            <a:avLst/>
          </a:prstGeom>
          <a:solidFill>
            <a:srgbClr val="1C12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520440" y="195681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80760" y="1865376"/>
            <a:ext cx="2743200" cy="402336"/>
          </a:xfrm>
          <a:prstGeom prst="rect">
            <a:avLst/>
          </a:prstGeom>
          <a:solidFill>
            <a:srgbClr val="1C12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172200" y="195681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" y="2286000"/>
            <a:ext cx="3200400" cy="402336"/>
          </a:xfrm>
          <a:prstGeom prst="rect">
            <a:avLst/>
          </a:prstGeom>
          <a:solidFill>
            <a:srgbClr val="2418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20040" y="23774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Brewery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29000" y="2286000"/>
            <a:ext cx="2651760" cy="402336"/>
          </a:xfrm>
          <a:prstGeom prst="rect">
            <a:avLst/>
          </a:prstGeom>
          <a:solidFill>
            <a:srgbClr val="2418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340864"/>
            <a:ext cx="347472" cy="347472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6080760" y="2286000"/>
            <a:ext cx="2743200" cy="402336"/>
          </a:xfrm>
          <a:prstGeom prst="rect">
            <a:avLst/>
          </a:prstGeom>
          <a:solidFill>
            <a:srgbClr val="2418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2340864"/>
            <a:ext cx="347472" cy="347472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228600" y="2706624"/>
            <a:ext cx="3200400" cy="402336"/>
          </a:xfrm>
          <a:prstGeom prst="rect">
            <a:avLst/>
          </a:prstGeom>
          <a:solidFill>
            <a:srgbClr val="1C12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6"/>
          <p:cNvSpPr/>
          <p:nvPr/>
        </p:nvSpPr>
        <p:spPr>
          <a:xfrm>
            <a:off x="320040" y="279806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 + Mexican Beer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3429000" y="2706624"/>
            <a:ext cx="2651760" cy="402336"/>
          </a:xfrm>
          <a:prstGeom prst="rect">
            <a:avLst/>
          </a:prstGeom>
          <a:solidFill>
            <a:srgbClr val="1C122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761488"/>
            <a:ext cx="347472" cy="347472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6080760" y="2706624"/>
            <a:ext cx="2743200" cy="402336"/>
          </a:xfrm>
          <a:prstGeom prst="rect">
            <a:avLst/>
          </a:prstGeom>
          <a:solidFill>
            <a:srgbClr val="1C122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2761488"/>
            <a:ext cx="347472" cy="347472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228600" y="3127248"/>
            <a:ext cx="3200400" cy="402336"/>
          </a:xfrm>
          <a:prstGeom prst="rect">
            <a:avLst/>
          </a:prstGeom>
          <a:solidFill>
            <a:srgbClr val="2418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0"/>
          <p:cNvSpPr/>
          <p:nvPr/>
        </p:nvSpPr>
        <p:spPr>
          <a:xfrm>
            <a:off x="320040" y="321868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Station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3429000" y="3127248"/>
            <a:ext cx="2651760" cy="402336"/>
          </a:xfrm>
          <a:prstGeom prst="rect">
            <a:avLst/>
          </a:prstGeom>
          <a:solidFill>
            <a:srgbClr val="2418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3182112"/>
            <a:ext cx="347472" cy="347472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6080760" y="3127248"/>
            <a:ext cx="2743200" cy="402336"/>
          </a:xfrm>
          <a:prstGeom prst="rect">
            <a:avLst/>
          </a:prstGeom>
          <a:solidFill>
            <a:srgbClr val="2418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3182112"/>
            <a:ext cx="347472" cy="347472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228600" y="3547872"/>
            <a:ext cx="3200400" cy="402336"/>
          </a:xfrm>
          <a:prstGeom prst="rect">
            <a:avLst/>
          </a:prstGeom>
          <a:solidFill>
            <a:srgbClr val="1C12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4"/>
          <p:cNvSpPr/>
          <p:nvPr/>
        </p:nvSpPr>
        <p:spPr>
          <a:xfrm>
            <a:off x="320040" y="363931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Band</a:t>
            </a:r>
            <a:endParaRPr lang="en-US" sz="1100" dirty="0"/>
          </a:p>
        </p:txBody>
      </p:sp>
      <p:sp>
        <p:nvSpPr>
          <p:cNvPr id="43" name="Shape 35"/>
          <p:cNvSpPr/>
          <p:nvPr/>
        </p:nvSpPr>
        <p:spPr>
          <a:xfrm>
            <a:off x="3429000" y="3547872"/>
            <a:ext cx="2651760" cy="402336"/>
          </a:xfrm>
          <a:prstGeom prst="rect">
            <a:avLst/>
          </a:prstGeom>
          <a:solidFill>
            <a:srgbClr val="1C12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36"/>
          <p:cNvSpPr/>
          <p:nvPr/>
        </p:nvSpPr>
        <p:spPr>
          <a:xfrm>
            <a:off x="3520440" y="363931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100" dirty="0"/>
          </a:p>
        </p:txBody>
      </p:sp>
      <p:sp>
        <p:nvSpPr>
          <p:cNvPr id="45" name="Shape 37"/>
          <p:cNvSpPr/>
          <p:nvPr/>
        </p:nvSpPr>
        <p:spPr>
          <a:xfrm>
            <a:off x="6080760" y="3547872"/>
            <a:ext cx="2743200" cy="402336"/>
          </a:xfrm>
          <a:prstGeom prst="rect">
            <a:avLst/>
          </a:prstGeom>
          <a:solidFill>
            <a:srgbClr val="1C122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3602736"/>
            <a:ext cx="347472" cy="347472"/>
          </a:xfrm>
          <a:prstGeom prst="rect">
            <a:avLst/>
          </a:prstGeom>
        </p:spPr>
      </p:pic>
      <p:sp>
        <p:nvSpPr>
          <p:cNvPr id="47" name="Shape 38"/>
          <p:cNvSpPr/>
          <p:nvPr/>
        </p:nvSpPr>
        <p:spPr>
          <a:xfrm>
            <a:off x="228600" y="3968496"/>
            <a:ext cx="3200400" cy="402336"/>
          </a:xfrm>
          <a:prstGeom prst="rect">
            <a:avLst/>
          </a:prstGeom>
          <a:solidFill>
            <a:srgbClr val="2418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39"/>
          <p:cNvSpPr/>
          <p:nvPr/>
        </p:nvSpPr>
        <p:spPr>
          <a:xfrm>
            <a:off x="320040" y="405993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Comedy Shows</a:t>
            </a:r>
            <a:endParaRPr lang="en-US" sz="1100" dirty="0"/>
          </a:p>
        </p:txBody>
      </p:sp>
      <p:sp>
        <p:nvSpPr>
          <p:cNvPr id="49" name="Shape 40"/>
          <p:cNvSpPr/>
          <p:nvPr/>
        </p:nvSpPr>
        <p:spPr>
          <a:xfrm>
            <a:off x="3429000" y="3968496"/>
            <a:ext cx="2651760" cy="402336"/>
          </a:xfrm>
          <a:prstGeom prst="rect">
            <a:avLst/>
          </a:prstGeom>
          <a:solidFill>
            <a:srgbClr val="2418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4023360"/>
            <a:ext cx="347472" cy="347472"/>
          </a:xfrm>
          <a:prstGeom prst="rect">
            <a:avLst/>
          </a:prstGeom>
        </p:spPr>
      </p:pic>
      <p:sp>
        <p:nvSpPr>
          <p:cNvPr id="51" name="Shape 41"/>
          <p:cNvSpPr/>
          <p:nvPr/>
        </p:nvSpPr>
        <p:spPr>
          <a:xfrm>
            <a:off x="6080760" y="3968496"/>
            <a:ext cx="2743200" cy="402336"/>
          </a:xfrm>
          <a:prstGeom prst="rect">
            <a:avLst/>
          </a:prstGeom>
          <a:solidFill>
            <a:srgbClr val="2418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2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4023360"/>
            <a:ext cx="347472" cy="347472"/>
          </a:xfrm>
          <a:prstGeom prst="rect">
            <a:avLst/>
          </a:prstGeom>
        </p:spPr>
      </p:pic>
      <p:sp>
        <p:nvSpPr>
          <p:cNvPr id="53" name="Shape 42"/>
          <p:cNvSpPr/>
          <p:nvPr/>
        </p:nvSpPr>
        <p:spPr>
          <a:xfrm>
            <a:off x="228600" y="4389120"/>
            <a:ext cx="3200400" cy="402336"/>
          </a:xfrm>
          <a:prstGeom prst="rect">
            <a:avLst/>
          </a:prstGeom>
          <a:solidFill>
            <a:srgbClr val="1C12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43"/>
          <p:cNvSpPr/>
          <p:nvPr/>
        </p:nvSpPr>
        <p:spPr>
          <a:xfrm>
            <a:off x="320040" y="448056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</a:t>
            </a:r>
            <a:endParaRPr lang="en-US" sz="1100" dirty="0"/>
          </a:p>
        </p:txBody>
      </p:sp>
      <p:sp>
        <p:nvSpPr>
          <p:cNvPr id="55" name="Shape 44"/>
          <p:cNvSpPr/>
          <p:nvPr/>
        </p:nvSpPr>
        <p:spPr>
          <a:xfrm>
            <a:off x="3429000" y="4389120"/>
            <a:ext cx="2651760" cy="402336"/>
          </a:xfrm>
          <a:prstGeom prst="rect">
            <a:avLst/>
          </a:prstGeom>
          <a:solidFill>
            <a:srgbClr val="1C12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45"/>
          <p:cNvSpPr/>
          <p:nvPr/>
        </p:nvSpPr>
        <p:spPr>
          <a:xfrm>
            <a:off x="3520440" y="44805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(one-time visit)</a:t>
            </a:r>
            <a:endParaRPr lang="en-US" sz="1100" dirty="0"/>
          </a:p>
        </p:txBody>
      </p:sp>
      <p:sp>
        <p:nvSpPr>
          <p:cNvPr id="57" name="Shape 46"/>
          <p:cNvSpPr/>
          <p:nvPr/>
        </p:nvSpPr>
        <p:spPr>
          <a:xfrm>
            <a:off x="6080760" y="4389120"/>
            <a:ext cx="2743200" cy="402336"/>
          </a:xfrm>
          <a:prstGeom prst="rect">
            <a:avLst/>
          </a:prstGeom>
          <a:solidFill>
            <a:srgbClr val="1C12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47"/>
          <p:cNvSpPr/>
          <p:nvPr/>
        </p:nvSpPr>
        <p:spPr>
          <a:xfrm>
            <a:off x="6172200" y="448056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59" name="Shape 4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0A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49"/>
          <p:cNvSpPr/>
          <p:nvPr/>
        </p:nvSpPr>
        <p:spPr>
          <a:xfrm>
            <a:off x="365760" y="4818888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4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"Oia is a place you visit once — Bella Vita is a place you keep coming back to."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B1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0A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ADVANTAGES &amp; CONCLUSION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212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Bella Vita Brewery wins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594360" cy="594360"/>
          </a:xfrm>
          <a:prstGeom prst="ellipse">
            <a:avLst/>
          </a:prstGeom>
          <a:solidFill>
            <a:srgbClr val="C492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60704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0424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Multiple Revenue Streams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5840" y="13075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+ craft beer + imports + events + merchandise + brewery tours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74320" y="1965960"/>
            <a:ext cx="594360" cy="594360"/>
          </a:xfrm>
          <a:prstGeom prst="ellipse">
            <a:avLst/>
          </a:prstGeom>
          <a:solidFill>
            <a:srgbClr val="C492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2020824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20025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Eco-Smart USP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05840" y="22677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charging tables create organic social media marketing at zero cost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74320" y="2926080"/>
            <a:ext cx="594360" cy="594360"/>
          </a:xfrm>
          <a:prstGeom prst="ellipse">
            <a:avLst/>
          </a:prstGeom>
          <a:solidFill>
            <a:srgbClr val="C492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2980944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05840" y="29626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Entertainment-Driven Retention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005840" y="32278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distinct weekly programmes give customers six independent reasons to return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274320" y="3886200"/>
            <a:ext cx="594360" cy="594360"/>
          </a:xfrm>
          <a:prstGeom prst="ellipse">
            <a:avLst/>
          </a:prstGeom>
          <a:solidFill>
            <a:srgbClr val="C492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3941064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05840" y="39227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Brand Identity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005840" y="41879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"Italy meets innovation" — extendable to future locations, products, and experiences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5486400" y="1005840"/>
            <a:ext cx="3337560" cy="3749040"/>
          </a:xfrm>
          <a:prstGeom prst="rect">
            <a:avLst/>
          </a:prstGeom>
          <a:solidFill>
            <a:srgbClr val="2C0A1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6"/>
          <p:cNvSpPr/>
          <p:nvPr/>
        </p:nvSpPr>
        <p:spPr>
          <a:xfrm>
            <a:off x="5486400" y="1005840"/>
            <a:ext cx="3337560" cy="457200"/>
          </a:xfrm>
          <a:prstGeom prst="rect">
            <a:avLst/>
          </a:prstGeom>
          <a:solidFill>
            <a:srgbClr val="C492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7"/>
          <p:cNvSpPr/>
          <p:nvPr/>
        </p:nvSpPr>
        <p:spPr>
          <a:xfrm>
            <a:off x="5577840" y="105156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623560" y="1536192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Ristorante Bella Vita Brewery represents a next-generation restaurant concept combining gastronomy, craft brewing, sustainability, and entertainment.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E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ambience-focused competitors, this model provides a holistic, multi-dimensional experience driving strong retention and long-term revenue growth.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486400" y="3584448"/>
            <a:ext cx="3337560" cy="36576"/>
          </a:xfrm>
          <a:prstGeom prst="rect">
            <a:avLst/>
          </a:prstGeom>
          <a:solidFill>
            <a:srgbClr val="C492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0"/>
          <p:cNvSpPr/>
          <p:nvPr/>
        </p:nvSpPr>
        <p:spPr>
          <a:xfrm>
            <a:off x="5577840" y="36576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C4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"Italian Luxury · Craft Brewing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i="1" dirty="0">
                <a:solidFill>
                  <a:srgbClr val="C4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Eco Innovation · Live Experience"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2"/>
          <p:cNvSpPr/>
          <p:nvPr/>
        </p:nvSpPr>
        <p:spPr>
          <a:xfrm>
            <a:off x="365760" y="48280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6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Ristorante Bella Vita Brewery  |  Bengaluru  |  2025  |  Hospitality Management Concept Report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544</Words>
  <Application>Microsoft Office PowerPoint</Application>
  <PresentationFormat>On-screen Show (16:9)</PresentationFormat>
  <Paragraphs>118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Ristorante Bella Vita Brewery</dc:title>
  <dc:subject>PptxGenJS Presentation</dc:subject>
  <dc:creator>PptxGenJS</dc:creator>
  <cp:lastModifiedBy>Mohan Raja</cp:lastModifiedBy>
  <cp:revision>2</cp:revision>
  <dcterms:created xsi:type="dcterms:W3CDTF">2026-04-19T10:25:10Z</dcterms:created>
  <dcterms:modified xsi:type="dcterms:W3CDTF">2026-04-19T10:59:59Z</dcterms:modified>
</cp:coreProperties>
</file>